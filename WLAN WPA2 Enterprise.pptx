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31720"/>
            <a:ext cx="1097280" cy="640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B.TECH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Secure Campus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 (WLAN)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WPA2-Enterprise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</a:t>
            </a:r>
            <a:pPr indent="0" marL="0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Course: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/ IT  </a:t>
            </a:r>
            <a:pPr indent="0" marL="0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Subject: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544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Wireless Networks (WLAN)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WLAN and how does it work?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88920" cy="73152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298448"/>
            <a:ext cx="777240" cy="777240"/>
          </a:xfrm>
          <a:prstGeom prst="ellipse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38988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WLAN?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6060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Wireless Local Area Network (WLAN) connects devices like laptops, phones, and tablets without physical cables — using radio waves.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18688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143000"/>
            <a:ext cx="278892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24528" y="1298448"/>
            <a:ext cx="777240" cy="77724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389888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01568" y="26060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sent through radio frequencies (2.4 GHz / 5 GHz). Access Points (APs) broadcast Wi-Fi signals that devices connect to.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63056" y="11430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63056" y="1143000"/>
            <a:ext cx="2788920" cy="73152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68896" y="1298448"/>
            <a:ext cx="777240" cy="777240"/>
          </a:xfrm>
          <a:prstGeom prst="ellipse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389888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0216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Standard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45936" y="26060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follows the IEEE 802.11 standard. Common versions: 802.11n, 802.11ac (Wi-Fi 5), 802.11ax (Wi-Fi 6).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Campus WLANs can span multiple buildings and serve thousands of users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Network Security &amp; Why It Matters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data, users, and systems from threats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73152" cy="182880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rules, technologies, and practices that protect a network from unauthorized access, misuse, and attacks. It ensures data confidentiality, integrity, and availability.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73152" cy="1828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Threats on Campus Wi-Fi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4475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 (packet sniffing)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attacks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Access Points (Evil Twin)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network access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 of Security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364992"/>
            <a:ext cx="2788920" cy="137160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401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794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 can read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3364992"/>
            <a:ext cx="278892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10128" y="3401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3794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altered during transmission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3364992"/>
            <a:ext cx="2788920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54496" y="3401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54496" y="3794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 accessible when needed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WPA2-Enterprise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for secure Wi-Fi authentication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0241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 (Wi-Fi Protected Access 2) — Enterprise Mode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4173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wireless security protocol that uses individual credentials per user (not a shared password) and a central authentication server to verify identity before granting network access.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320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331720"/>
            <a:ext cx="2011680" cy="64008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6968" y="2468880"/>
            <a:ext cx="777240" cy="777240"/>
          </a:xfrm>
          <a:prstGeom prst="ellipse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60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" y="3730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128/256-bit AES to encrypt all wireless traffic — virtually unbreakable.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450592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450592" y="2331720"/>
            <a:ext cx="2011680" cy="64008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63240" y="2468880"/>
            <a:ext cx="777240" cy="777240"/>
          </a:xfrm>
          <a:prstGeom prst="ellipse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25603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42032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Auth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542032" y="3730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Port-based authentication using EAP protocols (PEAP, EAP-TLS) for every user.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26864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26864" y="2331720"/>
            <a:ext cx="201168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239512" y="2468880"/>
            <a:ext cx="777240" cy="7772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56032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18304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Server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18304" y="3730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 manages all user credentials, policies, and access decisions.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803136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03136" y="2331720"/>
            <a:ext cx="20116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415784" y="2468880"/>
            <a:ext cx="777240" cy="7772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2560320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94576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Keys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894576" y="3730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gets a unique encryption key — even if one is compromised, others stay safe.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MIT, Google, IIT Bombay, large enterprises worldwide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vs WPA2-Enterprise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security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9260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WPA2-Personal (PSK)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1945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60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29260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WPA2-Enterprise (802.1X)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35608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password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194560" cy="4297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3560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417320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435608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credentials per user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847088"/>
            <a:ext cx="2926080" cy="429768"/>
          </a:xfrm>
          <a:prstGeom prst="rect">
            <a:avLst/>
          </a:prstGeom>
          <a:solidFill>
            <a:srgbClr val="F0F7FD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65376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(shared key)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847088"/>
            <a:ext cx="2194560" cy="4297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86537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847088"/>
            <a:ext cx="2926080" cy="429768"/>
          </a:xfrm>
          <a:prstGeom prst="rect">
            <a:avLst/>
          </a:prstGeom>
          <a:solidFill>
            <a:srgbClr val="F0F7FD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865376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login tracked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76856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295144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Small office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276856"/>
            <a:ext cx="2194560" cy="4297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295144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2276856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295144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/ Enterprises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706624"/>
            <a:ext cx="2926080" cy="429768"/>
          </a:xfrm>
          <a:prstGeom prst="rect">
            <a:avLst/>
          </a:prstGeom>
          <a:solidFill>
            <a:srgbClr val="F0F7FD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724912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2706624"/>
            <a:ext cx="2194560" cy="4297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7249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Level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2706624"/>
            <a:ext cx="2926080" cy="429768"/>
          </a:xfrm>
          <a:prstGeom prst="rect">
            <a:avLst/>
          </a:prstGeom>
          <a:solidFill>
            <a:srgbClr val="F0F7FD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724912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Higher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136392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154680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136392"/>
            <a:ext cx="2194560" cy="4297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1546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94960" y="3136392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154680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RADIUS server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566160"/>
            <a:ext cx="2926080" cy="429768"/>
          </a:xfrm>
          <a:prstGeom prst="rect">
            <a:avLst/>
          </a:prstGeom>
          <a:solidFill>
            <a:srgbClr val="F0F7FD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584448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tracked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0" y="3566160"/>
            <a:ext cx="2194560" cy="4297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358444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94960" y="3566160"/>
            <a:ext cx="2926080" cy="429768"/>
          </a:xfrm>
          <a:prstGeom prst="rect">
            <a:avLst/>
          </a:prstGeom>
          <a:solidFill>
            <a:srgbClr val="F0F7FD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3584448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activity logs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995928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14216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if PSK leaks, all exposed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0" y="3995928"/>
            <a:ext cx="2194560" cy="4297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401421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394960" y="3995928"/>
            <a:ext cx="29260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0" y="4014216"/>
            <a:ext cx="2788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server misconfiguration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 any campus with 50+ users, WPA2-Enterprise is strongly recommended.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WPA2-Enterprise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the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788920" cy="64008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115568"/>
            <a:ext cx="777240" cy="777240"/>
          </a:xfrm>
          <a:prstGeom prst="ellipse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0700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1975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Server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47472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Hub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267004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= Remote Authentication Dial-In User Service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usernames, passwords &amp; certificates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rejects login requests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FreeRADIUS (open-source), Cisco 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with APs using UDP port 1812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05840"/>
            <a:ext cx="2788920" cy="640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1115568"/>
            <a:ext cx="777240" cy="77724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207008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1975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 (APs)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29184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Entry Nodes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83280" y="267004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devices that broadcast the Wi-Fi signal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middleman between user device and RADIUS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802.1X port-based authentication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Cisco Meraki, Ubiquiti UniFi, Aruba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30–250 concurrent users each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44768" y="100584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44768" y="1005840"/>
            <a:ext cx="27889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50608" y="1115568"/>
            <a:ext cx="777240" cy="7772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207008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36208" y="1975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Server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236208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27648" y="267004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user credentials (ID + Password or Certificate)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LDAP / Active Directory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session keys after successful auth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login attempt with timestamp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enforce device-level policies (e.g., OS type)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 — Authentication Flow (802.1X)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How a user connects to the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52728"/>
            <a:ext cx="658368" cy="658368"/>
          </a:xfrm>
          <a:prstGeom prst="ellipse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143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Request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270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device sends request to connect to the 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2148840"/>
            <a:ext cx="64008" cy="13716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86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487168"/>
            <a:ext cx="658368" cy="65836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87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377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 Start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challenges the device with an EAP identity request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3383280"/>
            <a:ext cx="64008" cy="1371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520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721608"/>
            <a:ext cx="658368" cy="658368"/>
          </a:xfrm>
          <a:prstGeom prst="ellipse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721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9959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sends username/certificate to 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1252728"/>
            <a:ext cx="658368" cy="6583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1143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Forwarded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15270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forwards credentials to the RADIUS server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2148840"/>
            <a:ext cx="64008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286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2487168"/>
            <a:ext cx="658368" cy="6583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487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77840" y="2377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Validates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27614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checks credentials against user database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3383280"/>
            <a:ext cx="64008" cy="137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520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3721608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721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77840" y="36118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77840" y="39959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sends Accept + session key to AP → user is online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EAP (Extensible Authentication Protocol) carried over 802.1X | Common EAP types: PEAP, EAP-TLS, EAP-TTLS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Network Architecture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components connect in a university environment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1463040" cy="914400"/>
          </a:xfrm>
          <a:prstGeom prst="ellipse">
            <a:avLst/>
          </a:prstGeom>
          <a:solidFill>
            <a:srgbClr val="D0E4F0"/>
          </a:solidFill>
          <a:ln w="12700">
            <a:solidFill>
              <a:srgbClr val="4A6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4813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417320"/>
            <a:ext cx="118872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4173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417320"/>
            <a:ext cx="13716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4173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Switch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2743200"/>
            <a:ext cx="1463040" cy="713232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274320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960120"/>
            <a:ext cx="914400" cy="74980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96012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960120"/>
            <a:ext cx="914400" cy="74980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96012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960120"/>
            <a:ext cx="914400" cy="74980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96012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828800"/>
            <a:ext cx="1737360" cy="548640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Switch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291840"/>
            <a:ext cx="868680" cy="621792"/>
          </a:xfrm>
          <a:prstGeom prst="rect">
            <a:avLst/>
          </a:prstGeom>
          <a:solidFill>
            <a:srgbClr val="D0E4F0"/>
          </a:solidFill>
          <a:ln w="12700">
            <a:solidFill>
              <a:srgbClr val="4A62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29184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3291840"/>
            <a:ext cx="868680" cy="621792"/>
          </a:xfrm>
          <a:prstGeom prst="rect">
            <a:avLst/>
          </a:prstGeom>
          <a:solidFill>
            <a:srgbClr val="D0E4F0"/>
          </a:solidFill>
          <a:ln w="12700">
            <a:solidFill>
              <a:srgbClr val="4A62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29184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3291840"/>
            <a:ext cx="868680" cy="621792"/>
          </a:xfrm>
          <a:prstGeom prst="rect">
            <a:avLst/>
          </a:prstGeom>
          <a:solidFill>
            <a:srgbClr val="D0E4F0"/>
          </a:solidFill>
          <a:ln w="12700">
            <a:solidFill>
              <a:srgbClr val="4A62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29184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45920" y="1737360"/>
            <a:ext cx="274320" cy="0"/>
          </a:xfrm>
          <a:prstGeom prst="line">
            <a:avLst/>
          </a:prstGeom>
          <a:noFill/>
          <a:ln w="12700">
            <a:solidFill>
              <a:srgbClr val="4A62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1737360"/>
            <a:ext cx="548640" cy="0"/>
          </a:xfrm>
          <a:prstGeom prst="line">
            <a:avLst/>
          </a:prstGeom>
          <a:noFill/>
          <a:ln w="12700">
            <a:solidFill>
              <a:srgbClr val="4A62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737360"/>
            <a:ext cx="914400" cy="0"/>
          </a:xfrm>
          <a:prstGeom prst="line">
            <a:avLst/>
          </a:prstGeom>
          <a:noFill/>
          <a:ln w="12700">
            <a:solidFill>
              <a:srgbClr val="4A62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2075688"/>
            <a:ext cx="0" cy="667512"/>
          </a:xfrm>
          <a:prstGeom prst="line">
            <a:avLst/>
          </a:prstGeom>
          <a:noFill/>
          <a:ln w="12700">
            <a:solidFill>
              <a:srgbClr val="1D5FA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309360" y="1709928"/>
            <a:ext cx="0" cy="118872"/>
          </a:xfrm>
          <a:prstGeom prst="line">
            <a:avLst/>
          </a:prstGeom>
          <a:noFill/>
          <a:ln w="12700">
            <a:solidFill>
              <a:srgbClr val="00A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1709928"/>
            <a:ext cx="0" cy="118872"/>
          </a:xfrm>
          <a:prstGeom prst="line">
            <a:avLst/>
          </a:prstGeom>
          <a:noFill/>
          <a:ln w="12700">
            <a:solidFill>
              <a:srgbClr val="00A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1709928"/>
            <a:ext cx="0" cy="118872"/>
          </a:xfrm>
          <a:prstGeom prst="line">
            <a:avLst/>
          </a:prstGeom>
          <a:noFill/>
          <a:ln w="12700">
            <a:solidFill>
              <a:srgbClr val="00A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2377440"/>
            <a:ext cx="0" cy="914400"/>
          </a:xfrm>
          <a:prstGeom prst="line">
            <a:avLst/>
          </a:prstGeom>
          <a:noFill/>
          <a:ln w="12700">
            <a:solidFill>
              <a:srgbClr val="0DD3B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114032" y="2377440"/>
            <a:ext cx="0" cy="914400"/>
          </a:xfrm>
          <a:prstGeom prst="line">
            <a:avLst/>
          </a:prstGeom>
          <a:noFill/>
          <a:ln w="12700">
            <a:solidFill>
              <a:srgbClr val="0DD3B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119872" y="2377440"/>
            <a:ext cx="0" cy="914400"/>
          </a:xfrm>
          <a:prstGeom prst="line">
            <a:avLst/>
          </a:prstGeom>
          <a:noFill/>
          <a:ln w="12700">
            <a:solidFill>
              <a:srgbClr val="0DD3B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82880" y="4023360"/>
            <a:ext cx="5029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370832"/>
            <a:ext cx="365760" cy="109728"/>
          </a:xfrm>
          <a:prstGeom prst="rect">
            <a:avLst/>
          </a:prstGeom>
          <a:solidFill>
            <a:srgbClr val="4A6285"/>
          </a:solidFill>
          <a:ln w="12700">
            <a:solidFill>
              <a:srgbClr val="4A62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Connection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65960" y="4370832"/>
            <a:ext cx="365760" cy="109728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Auth (dashed)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11880" y="4370832"/>
            <a:ext cx="365760" cy="109728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Connection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Implementation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WPA2-Enterprise on a campus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4160520" cy="64008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43000"/>
            <a:ext cx="566928" cy="566928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43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" y="1097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RADIUS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148132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FreeRADIUS on a Linux server (Ubuntu). Configure radiusd.conf with network settings.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90872" y="10058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005840"/>
            <a:ext cx="4160520" cy="640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2312" y="1143000"/>
            <a:ext cx="566928" cy="56692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143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68112" y="1097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Access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68112" y="148132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each AP to WPA2-Enterprise mode. Enter RADIUS server IP, port (1812), and shared secret.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3317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331720"/>
            <a:ext cx="4160520" cy="64008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468880"/>
            <a:ext cx="566928" cy="566928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3272" y="2423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User 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" y="280720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accounts in LDAP or Active Directory. Link RADIUS to the directory for credential lookup.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90872" y="23317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331720"/>
            <a:ext cx="416052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312" y="2468880"/>
            <a:ext cx="566928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68112" y="24231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Certificates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68112" y="280720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SSL/TLS certificates using OpenSSL. Deploy CA certificate to all user devices for server verification.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3657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657600"/>
            <a:ext cx="41605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794760"/>
            <a:ext cx="566928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33272" y="37490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EAP Method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33272" y="413308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EAP-PEAP (easier) or EAP-TLS (stronger). Configure eap.conf on the RADIUS server.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90872" y="36576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3657600"/>
            <a:ext cx="416052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82312" y="3794760"/>
            <a:ext cx="566928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68112" y="37490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Monitor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68112" y="413308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like Wireshark to verify encrypted traffic. Monitor RADIUS logs for failed auth attempts.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6032" y="47548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FreeRADIUS · OpenSSL · Cisco Meraki Dashboard · Wireshark · Active Directory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Benefits of WPA2-Enterprise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and universities prefer this standard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82296" cy="187452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70432"/>
            <a:ext cx="685800" cy="685800"/>
          </a:xfrm>
          <a:prstGeom prst="ellipse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61872"/>
            <a:ext cx="484632" cy="484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115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Encryption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61872" y="153619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AES-CCMP 128/256-bit encryption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keys generated per user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captured packets are useless without key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90872" y="10058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1005840"/>
            <a:ext cx="82296" cy="1874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170432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61872"/>
            <a:ext cx="484632" cy="4846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96712" y="11155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Authentication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696712" y="153619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has unique login credentials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account doesn't affect others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 (MFA) can be added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56032" y="30175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3017520"/>
            <a:ext cx="82296" cy="18745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8912" y="3182112"/>
            <a:ext cx="685800" cy="6858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273552"/>
            <a:ext cx="484632" cy="4846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61872" y="3127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261872" y="35478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(student vs staff)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by device type or 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assignment based on user role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90872" y="30175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90872" y="3017520"/>
            <a:ext cx="82296" cy="18745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73752" y="3182112"/>
            <a:ext cx="685800" cy="6858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73552"/>
            <a:ext cx="484632" cy="4846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96712" y="3127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Visibility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696712" y="35478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of who connected, when, for how long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behavior in real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compliance (GDPR, ISO 27001)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be aware of before deployment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10712" y="1097280"/>
            <a:ext cx="8686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097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0789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4813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technical expertise to configure RADIUS, certificates, and LDAP integration.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45552" y="1097280"/>
            <a:ext cx="8686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097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8032" y="10789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4813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APs (Cisco, Aruba) and RADIUS infrastructure can be expensive for small institutions.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3042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10712" y="2395728"/>
            <a:ext cx="8686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395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" y="2377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27797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 expire and must be renewed. Improper management leads to connectivity issues.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0872" y="23042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45552" y="2395728"/>
            <a:ext cx="8686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23957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8032" y="2377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27797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server can become a bottleneck with thousands of concurrent users if not clustered.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6027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10712" y="3694176"/>
            <a:ext cx="8686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6941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3192" y="36758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Compatibility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" y="40782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devices or IoT devices may not support 802.1X or EAP methods, causing connection failures.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90872" y="36027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45552" y="3694176"/>
            <a:ext cx="86868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36941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36758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40782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setup on user devices (installing CA cert) can confuse non-technical users.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Secure WLAN Deployment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guidelines to maximize security and reliability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82296" cy="1170432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97280"/>
            <a:ext cx="685800" cy="685800"/>
          </a:xfrm>
          <a:prstGeom prst="ellipse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188720"/>
            <a:ext cx="484632" cy="484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078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Credentials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61872" y="1463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password complexity (12+ chars, symbols). Prefer EAP-TLS with certificates over PEAP with passwords.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" y="23042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304288"/>
            <a:ext cx="82296" cy="11704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" y="2395728"/>
            <a:ext cx="685800" cy="6858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87168"/>
            <a:ext cx="484632" cy="4846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6187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Certificates Valid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261872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certificate renewal (use Let's Encrypt or internal PKI). Alert admins 30 days before expiry.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56032" y="36027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3602736"/>
            <a:ext cx="82296" cy="1170432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8912" y="3694176"/>
            <a:ext cx="685800" cy="685800"/>
          </a:xfrm>
          <a:prstGeom prst="ellipse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785616"/>
            <a:ext cx="484632" cy="4846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61872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Firmware Updates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261872" y="40599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 firmware and RADIUS software monthly. Patch known CVE vulnerabilities immediately.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90872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90872" y="1005840"/>
            <a:ext cx="82296" cy="1170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73752" y="1097280"/>
            <a:ext cx="685800" cy="6858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88720"/>
            <a:ext cx="484632" cy="4846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96712" y="1078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Audit Logging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96712" y="1463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authentication events. Set up alerts for repeated failed logins (brute force detection).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690872" y="23042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90872" y="2304288"/>
            <a:ext cx="82296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873752" y="2395728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2487168"/>
            <a:ext cx="484632" cy="4846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69671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696712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separate VLANs for students, faculty, IoT devices. Limit inter-VLAN traffic with ACLs.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690872" y="36027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90872" y="3602736"/>
            <a:ext cx="82296" cy="1170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873752" y="3694176"/>
            <a:ext cx="685800" cy="685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785616"/>
            <a:ext cx="484632" cy="4846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696712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MFA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696712" y="40599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factor (OTP via email/SMS) for privileged users like admins and staff.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— eduroam Network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universities worldwide implement WPA2-Enterprise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8631936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5568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02412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eduroam — Education Roaming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54480" y="146304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Wi-Fi roaming service used by 10,000+ universities in 100+ countries. When a student from IIT visits MIT, they can connect to Wi-Fi using their home university credentials — all secured with WPA2-Enterprise and 802.1X.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6032" y="2514600"/>
            <a:ext cx="2011680" cy="10058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2542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6032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32304" y="2514600"/>
            <a:ext cx="2011680" cy="1005840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32304" y="2542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432304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08576" y="2514600"/>
            <a:ext cx="201168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08576" y="2542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608576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84848" y="2514600"/>
            <a:ext cx="201168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84848" y="2542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WPA2-E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784848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Standard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6032" y="363931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56032" y="3639312"/>
            <a:ext cx="73152" cy="109728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" y="36758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Example: IIT Bombay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84632" y="405993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WPA2-Enterprise with LDAP-backed RADIUS. Students authenticate with LDAP credentials. Guest VLAN provided for visitors.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90872" y="363931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90872" y="3639312"/>
            <a:ext cx="73152" cy="109728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9472" y="36758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Example: Google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919472" y="405993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connect to 'Google WiFi' using their Google Workspace credentials. Certificate-based EAP-TLS used for managed devices.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— Beyond WPA2-Enterprise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wireless security trends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4160520" cy="64008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143000"/>
            <a:ext cx="685800" cy="685800"/>
          </a:xfrm>
          <a:prstGeom prst="ellipse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234440"/>
            <a:ext cx="484632" cy="484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078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WPA3-Enterprise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044952" y="1097280"/>
            <a:ext cx="1234440" cy="27432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44952" y="1097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2018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88720" y="1508760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192-bit security mode (CNSA suite)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Authentication of Equals (SAE)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offline dictionary attacks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Wi-Fi CERTIFIED WPA3 devices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90872" y="10058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90872" y="1005840"/>
            <a:ext cx="4160520" cy="6400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28032" y="1143000"/>
            <a:ext cx="685800" cy="6858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234440"/>
            <a:ext cx="484632" cy="4846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23560" y="1078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6E &amp; 7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479792" y="1097280"/>
            <a:ext cx="1234440" cy="274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1097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Now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623560" y="1508760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GHz band — less interference, higher speed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Multi-Link Operation (Wi-Fi 7) for reliability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OFDMA improves dense campus performance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Wakeup Time — great for IoT devices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56032" y="30175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56032" y="3017520"/>
            <a:ext cx="4160520" cy="64008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93192" y="3154680"/>
            <a:ext cx="685800" cy="685800"/>
          </a:xfrm>
          <a:prstGeom prst="ellipse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246120"/>
            <a:ext cx="484632" cy="4846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88720" y="3090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Security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3044952" y="3108960"/>
            <a:ext cx="1234440" cy="274320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044952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2024+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1188720" y="3520440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 — even on internal network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device health checks during session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 replaces VLAN-only isolation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anomaly detection in real time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690872" y="30175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690872" y="3017520"/>
            <a:ext cx="416052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828032" y="3154680"/>
            <a:ext cx="685800" cy="6858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246120"/>
            <a:ext cx="484632" cy="4846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623560" y="3090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Security</a:t>
            </a:r>
            <a:endParaRPr lang="en-US" sz="1350" dirty="0"/>
          </a:p>
        </p:txBody>
      </p:sp>
      <p:sp>
        <p:nvSpPr>
          <p:cNvPr id="35" name="Shape 29"/>
          <p:cNvSpPr/>
          <p:nvPr/>
        </p:nvSpPr>
        <p:spPr>
          <a:xfrm>
            <a:off x="7479792" y="3108960"/>
            <a:ext cx="123444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479792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5623560" y="3520440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detects rogue APs automatically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 catch insider threats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Auto-remediation: block suspicious device instantly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capacity planning for campus networks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9144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2646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WPA2-Enterprise is the most secure Wi-Fi standard for multi-user environments like campuses.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solidFill>
            <a:srgbClr val="0DD3BB"/>
          </a:solidFill>
          <a:ln w="12700">
            <a:solidFill>
              <a:srgbClr val="0DD3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802.1X, EAP, and RADIUS to authenticate each user individually with strong encryption.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50292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43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— RADIUS Server, Access Points, and Authentication Server — work together seamlessly.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4015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adoption (eduroam, IIT, Google) proves its effectiveness and scalability.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solidFill>
            <a:srgbClr val="1D5FAD"/>
          </a:solidFill>
          <a:ln w="12700">
            <a:solidFill>
              <a:srgbClr val="1D5F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0599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lies in WPA3, Zero Trust, and AI-driven security — building on WPA2-Enterprise foundations.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  |  Building a Secure Campus WLAN with WPA2-Enterprise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Secure Campus WLAN with WPA2-Enterprise</dc:title>
  <dc:subject>PptxGenJS Presentation</dc:subject>
  <dc:creator>B.Tech Student</dc:creator>
  <cp:lastModifiedBy>B.Tech Student</cp:lastModifiedBy>
  <cp:revision>1</cp:revision>
  <dcterms:created xsi:type="dcterms:W3CDTF">2026-04-26T17:29:13Z</dcterms:created>
  <dcterms:modified xsi:type="dcterms:W3CDTF">2026-04-26T17:29:13Z</dcterms:modified>
</cp:coreProperties>
</file>